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6" d="100"/>
          <a:sy n="66" d="100"/>
        </p:scale>
        <p:origin x="644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theme" Target="theme/theme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viewProps" Target="viewProps.xml" /><Relationship Id="rId2" Type="http://schemas.openxmlformats.org/officeDocument/2006/relationships/slide" Target="slides/slide1.xml" /><Relationship Id="rId1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notesMaster" Target="notesMasters/notesMaster1.xml" /><Relationship Id="rId10" Type="http://schemas.openxmlformats.org/officeDocument/2006/relationships/slide" Target="slides/slide9.xml" /><Relationship Id="rId19" Type="http://schemas.openxmlformats.org/officeDocument/2006/relationships/tableStyles" Target="tableStyle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F6C854-633E-4810-8DDC-0296C580A652}" type="datetimeFigureOut">
              <a:rPr lang="en-IN" smtClean="0"/>
              <a:t>27-10-2026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6F5F8F-8C48-4F44-91A9-94020E5C4A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12252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1499616"/>
            <a:ext cx="10789920" cy="56692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0D366F"/>
                </a:solidFill>
                <a:latin typeface="Aptos"/>
              </a:defRPr>
            </a:pPr>
            <a:r>
              <a:rPr dirty="0"/>
              <a:t>SPAM MESSAGE DETECTOR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2084832"/>
            <a:ext cx="10744200" cy="32004"/>
          </a:xfrm>
          <a:prstGeom prst="rect">
            <a:avLst/>
          </a:prstGeom>
          <a:solidFill>
            <a:srgbClr val="DEE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372600" y="6510528"/>
            <a:ext cx="210312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 algn="r">
              <a:spcAft>
                <a:spcPts val="1200"/>
              </a:spcAft>
              <a:defRPr sz="1000" b="0">
                <a:solidFill>
                  <a:srgbClr val="1E68B1"/>
                </a:solidFill>
                <a:latin typeface="Aptos"/>
              </a:defRPr>
            </a:pPr>
            <a:r>
              <a:t>PYTHON MINI PROJECT  | 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456043"/>
            <a:ext cx="10332720" cy="6400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1200"/>
              </a:spcAft>
              <a:defRPr sz="2700" b="1">
                <a:solidFill>
                  <a:srgbClr val="1E68B1"/>
                </a:solidFill>
                <a:latin typeface="Aptos"/>
              </a:defRPr>
            </a:pPr>
            <a:r>
              <a:rPr dirty="0"/>
              <a:t>Using Strings, Regular Expressions &amp; File Handling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436219"/>
            <a:ext cx="914400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0D366F"/>
                </a:solidFill>
                <a:latin typeface="Aptos"/>
              </a:defRPr>
            </a:pPr>
            <a:r>
              <a:rPr dirty="0"/>
              <a:t>PYTHON MINI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318601"/>
            <a:ext cx="10058400" cy="12126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414D5E"/>
                </a:solidFill>
                <a:latin typeface="Aptos"/>
              </a:defRPr>
            </a:pPr>
            <a:r>
              <a:rPr dirty="0"/>
              <a:t>Submitted by: </a:t>
            </a:r>
            <a:r>
              <a:rPr lang="en-US" dirty="0"/>
              <a:t>Harshit V </a:t>
            </a:r>
            <a:r>
              <a:rPr lang="en-US" dirty="0" err="1"/>
              <a:t>Rasaniya</a:t>
            </a:r>
            <a:r>
              <a:rPr dirty="0"/>
              <a:t>  </a:t>
            </a:r>
            <a:r>
              <a:rPr lang="en-US" dirty="0"/>
              <a:t>              </a:t>
            </a:r>
            <a:r>
              <a:rPr dirty="0"/>
              <a:t>Enrollment No: </a:t>
            </a:r>
            <a:r>
              <a:rPr lang="en-US" dirty="0"/>
              <a:t>12402080601042</a:t>
            </a:r>
            <a:endParaRPr dirty="0"/>
          </a:p>
          <a:p>
            <a:pPr>
              <a:spcAft>
                <a:spcPts val="1200"/>
              </a:spcAft>
              <a:defRPr sz="1800" b="0">
                <a:solidFill>
                  <a:srgbClr val="414D5E"/>
                </a:solidFill>
                <a:latin typeface="Aptos"/>
              </a:defRPr>
            </a:pPr>
            <a:r>
              <a:rPr dirty="0"/>
              <a:t>Department: Information Technology     </a:t>
            </a:r>
            <a:r>
              <a:rPr lang="en-US" dirty="0"/>
              <a:t>   </a:t>
            </a:r>
            <a:r>
              <a:rPr dirty="0"/>
              <a:t>Guided by: </a:t>
            </a:r>
            <a:r>
              <a:rPr lang="en-US" dirty="0"/>
              <a:t>Nayan Mali</a:t>
            </a:r>
          </a:p>
          <a:p>
            <a:pPr>
              <a:spcAft>
                <a:spcPts val="1200"/>
              </a:spcAft>
              <a:defRPr sz="1800" b="0">
                <a:solidFill>
                  <a:srgbClr val="414D5E"/>
                </a:solidFill>
                <a:latin typeface="Aptos"/>
              </a:defRPr>
            </a:pPr>
            <a:r>
              <a:rPr lang="en-US" dirty="0"/>
              <a:t>Batch: 1C8                                                               Course: Programming With Python (</a:t>
            </a:r>
            <a:r>
              <a:rPr lang="en-IN" dirty="0">
                <a:solidFill>
                  <a:srgbClr val="414D5E"/>
                </a:solidFill>
                <a:latin typeface="Aptos"/>
              </a:rPr>
              <a:t>202044504)</a:t>
            </a:r>
            <a:endParaRPr dirty="0"/>
          </a:p>
        </p:txBody>
      </p:sp>
      <p:pic>
        <p:nvPicPr>
          <p:cNvPr id="9" name="Picture 8" descr="images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366" y="0"/>
            <a:ext cx="1334061" cy="1211748"/>
          </a:xfrm>
          <a:prstGeom prst="rect">
            <a:avLst/>
          </a:prstGeom>
        </p:spPr>
      </p:pic>
      <p:pic>
        <p:nvPicPr>
          <p:cNvPr id="10" name="Picture 9" descr="downlo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6652" y="159215"/>
            <a:ext cx="1138922" cy="83475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94360" y="1115568"/>
            <a:ext cx="10991088" cy="22860"/>
          </a:xfrm>
          <a:prstGeom prst="rect">
            <a:avLst/>
          </a:prstGeom>
          <a:solidFill>
            <a:srgbClr val="1F4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1397504"/>
            <a:ext cx="10789920" cy="627864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0D366F"/>
                </a:solidFill>
                <a:latin typeface="Aptos"/>
              </a:defRPr>
            </a:pPr>
            <a:r>
              <a:rPr sz="3600" dirty="0"/>
              <a:t>Introduction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713232" y="2208262"/>
            <a:ext cx="10744200" cy="32004"/>
          </a:xfrm>
          <a:prstGeom prst="rect">
            <a:avLst/>
          </a:prstGeom>
          <a:solidFill>
            <a:srgbClr val="DEE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372600" y="6510528"/>
            <a:ext cx="210312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 algn="r">
              <a:spcAft>
                <a:spcPts val="1200"/>
              </a:spcAft>
              <a:defRPr sz="1000" b="0">
                <a:solidFill>
                  <a:srgbClr val="1E68B1"/>
                </a:solidFill>
                <a:latin typeface="Aptos"/>
              </a:defRPr>
            </a:pPr>
            <a:r>
              <a:t>PYTHON MINI PROJECT  | 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19622"/>
            <a:ext cx="10424160" cy="32918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414D5E"/>
                </a:solidFill>
                <a:latin typeface="Aptos"/>
              </a:defRPr>
            </a:pPr>
            <a:r>
              <a:rPr dirty="0"/>
              <a:t>•  Spam messages are unwanted or misleading messages.</a:t>
            </a:r>
          </a:p>
          <a:p>
            <a:pPr>
              <a:spcAft>
                <a:spcPts val="1200"/>
              </a:spcAft>
              <a:defRPr sz="2100" b="0">
                <a:solidFill>
                  <a:srgbClr val="414D5E"/>
                </a:solidFill>
                <a:latin typeface="Aptos"/>
              </a:defRPr>
            </a:pPr>
            <a:r>
              <a:rPr dirty="0"/>
              <a:t>•  They often contain fake prizes, promotional offers and suspicious links.</a:t>
            </a:r>
          </a:p>
          <a:p>
            <a:pPr>
              <a:spcAft>
                <a:spcPts val="1200"/>
              </a:spcAft>
              <a:defRPr sz="2100" b="0">
                <a:solidFill>
                  <a:srgbClr val="414D5E"/>
                </a:solidFill>
                <a:latin typeface="Aptos"/>
              </a:defRPr>
            </a:pPr>
            <a:r>
              <a:rPr dirty="0"/>
              <a:t>•  This project checks messages against predefined keywords.</a:t>
            </a:r>
          </a:p>
          <a:p>
            <a:pPr>
              <a:spcAft>
                <a:spcPts val="1200"/>
              </a:spcAft>
              <a:defRPr sz="2100" b="0">
                <a:solidFill>
                  <a:srgbClr val="414D5E"/>
                </a:solidFill>
                <a:latin typeface="Aptos"/>
              </a:defRPr>
            </a:pPr>
            <a:r>
              <a:rPr dirty="0"/>
              <a:t>•  It classifies input as SPAM or NOT SPAM.</a:t>
            </a:r>
          </a:p>
        </p:txBody>
      </p:sp>
      <p:pic>
        <p:nvPicPr>
          <p:cNvPr id="7" name="Picture 6" descr="images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231" y="45086"/>
            <a:ext cx="1237809" cy="1022071"/>
          </a:xfrm>
          <a:prstGeom prst="rect">
            <a:avLst/>
          </a:prstGeom>
        </p:spPr>
      </p:pic>
      <p:pic>
        <p:nvPicPr>
          <p:cNvPr id="8" name="Picture 7" descr="downlo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3735" y="164591"/>
            <a:ext cx="989411" cy="78306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94360" y="1115568"/>
            <a:ext cx="10991088" cy="22860"/>
          </a:xfrm>
          <a:prstGeom prst="rect">
            <a:avLst/>
          </a:prstGeom>
          <a:solidFill>
            <a:srgbClr val="1F4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71500" y="1556766"/>
            <a:ext cx="10789920" cy="56692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0D366F"/>
                </a:solidFill>
                <a:latin typeface="Aptos"/>
              </a:defRPr>
            </a:pPr>
            <a:r>
              <a:rPr dirty="0"/>
              <a:t>Problem Statement &amp;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2196846"/>
            <a:ext cx="10744200" cy="32004"/>
          </a:xfrm>
          <a:prstGeom prst="rect">
            <a:avLst/>
          </a:prstGeom>
          <a:solidFill>
            <a:srgbClr val="DEE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372600" y="6510528"/>
            <a:ext cx="210312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 algn="r">
              <a:spcAft>
                <a:spcPts val="1200"/>
              </a:spcAft>
              <a:defRPr sz="1000" b="0">
                <a:solidFill>
                  <a:srgbClr val="1E68B1"/>
                </a:solidFill>
                <a:latin typeface="Aptos"/>
              </a:defRPr>
            </a:pPr>
            <a:r>
              <a:t>PYTHON MINI PROJECT  | 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414016"/>
            <a:ext cx="914400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1E68B1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017520"/>
            <a:ext cx="10058400" cy="73152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414D5E"/>
                </a:solidFill>
                <a:latin typeface="Aptos"/>
              </a:defRPr>
            </a:pPr>
            <a:r>
              <a:rPr dirty="0"/>
              <a:t>Unwanted messages may be misleading and difficult to review manually.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822192"/>
            <a:ext cx="914400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1E68B1"/>
                </a:solidFill>
                <a:latin typeface="Aptos"/>
              </a:defRPr>
            </a:pPr>
            <a:r>
              <a:rPr dirty="0"/>
              <a:t>OUR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426298"/>
            <a:ext cx="1005840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414D5E"/>
                </a:solidFill>
                <a:latin typeface="Aptos"/>
              </a:defRPr>
            </a:pPr>
            <a:r>
              <a:rPr dirty="0"/>
              <a:t>Check suspicious keywords using Regex, classify the message and save the result.</a:t>
            </a:r>
          </a:p>
        </p:txBody>
      </p:sp>
      <p:pic>
        <p:nvPicPr>
          <p:cNvPr id="10" name="Picture 9" descr="images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196" y="96408"/>
            <a:ext cx="1247434" cy="1133063"/>
          </a:xfrm>
          <a:prstGeom prst="rect">
            <a:avLst/>
          </a:prstGeom>
        </p:spPr>
      </p:pic>
      <p:pic>
        <p:nvPicPr>
          <p:cNvPr id="11" name="Picture 10" descr="downlo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4004" y="164592"/>
            <a:ext cx="1109142" cy="877824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115568"/>
            <a:ext cx="10991088" cy="22860"/>
          </a:xfrm>
          <a:prstGeom prst="rect">
            <a:avLst/>
          </a:prstGeom>
          <a:solidFill>
            <a:srgbClr val="1F4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1499616"/>
            <a:ext cx="10789920" cy="56692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0D366F"/>
                </a:solidFill>
                <a:latin typeface="Aptos"/>
              </a:defRPr>
            </a:pPr>
            <a:r>
              <a:rPr dirty="0"/>
              <a:t>Project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2228850"/>
            <a:ext cx="10744200" cy="32004"/>
          </a:xfrm>
          <a:prstGeom prst="rect">
            <a:avLst/>
          </a:prstGeom>
          <a:solidFill>
            <a:srgbClr val="DEE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372600" y="6510528"/>
            <a:ext cx="210312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 algn="r">
              <a:spcAft>
                <a:spcPts val="1200"/>
              </a:spcAft>
              <a:defRPr sz="1000" b="0">
                <a:solidFill>
                  <a:srgbClr val="1E68B1"/>
                </a:solidFill>
                <a:latin typeface="Aptos"/>
              </a:defRPr>
            </a:pPr>
            <a:r>
              <a:t>PYTHON MINI PROJECT  | 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739771"/>
            <a:ext cx="10424160" cy="32918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414D5E"/>
                </a:solidFill>
                <a:latin typeface="Aptos"/>
              </a:defRPr>
            </a:pPr>
            <a:r>
              <a:rPr dirty="0"/>
              <a:t>•  Detect potentially unwanted messages using Python.</a:t>
            </a:r>
          </a:p>
          <a:p>
            <a:pPr>
              <a:spcAft>
                <a:spcPts val="1200"/>
              </a:spcAft>
              <a:defRPr sz="2100" b="0">
                <a:solidFill>
                  <a:srgbClr val="414D5E"/>
                </a:solidFill>
                <a:latin typeface="Aptos"/>
              </a:defRPr>
            </a:pPr>
            <a:r>
              <a:rPr dirty="0"/>
              <a:t>•  Apply string processing and regular expressions.</a:t>
            </a:r>
          </a:p>
          <a:p>
            <a:pPr>
              <a:spcAft>
                <a:spcPts val="1200"/>
              </a:spcAft>
              <a:defRPr sz="2100" b="0">
                <a:solidFill>
                  <a:srgbClr val="414D5E"/>
                </a:solidFill>
                <a:latin typeface="Aptos"/>
              </a:defRPr>
            </a:pPr>
            <a:r>
              <a:rPr dirty="0"/>
              <a:t>•  Build a simple menu-driven program.</a:t>
            </a:r>
          </a:p>
          <a:p>
            <a:pPr>
              <a:spcAft>
                <a:spcPts val="1200"/>
              </a:spcAft>
              <a:defRPr sz="2100" b="0">
                <a:solidFill>
                  <a:srgbClr val="414D5E"/>
                </a:solidFill>
                <a:latin typeface="Aptos"/>
              </a:defRPr>
            </a:pPr>
            <a:r>
              <a:rPr dirty="0"/>
              <a:t>•  Save and view detection history using text files.</a:t>
            </a:r>
          </a:p>
        </p:txBody>
      </p:sp>
      <p:pic>
        <p:nvPicPr>
          <p:cNvPr id="7" name="Picture 6" descr="images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233" y="42111"/>
            <a:ext cx="1206978" cy="1096317"/>
          </a:xfrm>
          <a:prstGeom prst="rect">
            <a:avLst/>
          </a:prstGeom>
        </p:spPr>
      </p:pic>
      <p:pic>
        <p:nvPicPr>
          <p:cNvPr id="8" name="Picture 7" descr="downlo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6502" y="194310"/>
            <a:ext cx="958946" cy="75895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94360" y="1115568"/>
            <a:ext cx="10991088" cy="22860"/>
          </a:xfrm>
          <a:prstGeom prst="rect">
            <a:avLst/>
          </a:prstGeom>
          <a:solidFill>
            <a:srgbClr val="1F4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13232" y="1621917"/>
            <a:ext cx="10789920" cy="56692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0D366F"/>
                </a:solidFill>
                <a:latin typeface="Aptos"/>
              </a:defRPr>
            </a:pPr>
            <a:r>
              <a:rPr dirty="0"/>
              <a:t>Technologies Used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2188845"/>
            <a:ext cx="10744200" cy="32004"/>
          </a:xfrm>
          <a:prstGeom prst="rect">
            <a:avLst/>
          </a:prstGeom>
          <a:solidFill>
            <a:srgbClr val="DEE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372600" y="6510528"/>
            <a:ext cx="210312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 algn="r">
              <a:spcAft>
                <a:spcPts val="1200"/>
              </a:spcAft>
              <a:defRPr sz="1000" b="0">
                <a:solidFill>
                  <a:srgbClr val="1E68B1"/>
                </a:solidFill>
                <a:latin typeface="Aptos"/>
              </a:defRPr>
            </a:pPr>
            <a:r>
              <a:t>PYTHON MINI PROJECT  | 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681959"/>
            <a:ext cx="10424160" cy="32918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414D5E"/>
                </a:solidFill>
                <a:latin typeface="Aptos"/>
              </a:defRPr>
            </a:pPr>
            <a:r>
              <a:rPr dirty="0"/>
              <a:t>•  Python — core programming language</a:t>
            </a:r>
          </a:p>
          <a:p>
            <a:pPr>
              <a:spcAft>
                <a:spcPts val="1200"/>
              </a:spcAft>
              <a:defRPr sz="2000" b="0">
                <a:solidFill>
                  <a:srgbClr val="414D5E"/>
                </a:solidFill>
                <a:latin typeface="Aptos"/>
              </a:defRPr>
            </a:pPr>
            <a:r>
              <a:rPr dirty="0"/>
              <a:t>•  Strings — lowercase conversion and message processing</a:t>
            </a:r>
          </a:p>
          <a:p>
            <a:pPr>
              <a:spcAft>
                <a:spcPts val="1200"/>
              </a:spcAft>
              <a:defRPr sz="2000" b="0">
                <a:solidFill>
                  <a:srgbClr val="414D5E"/>
                </a:solidFill>
                <a:latin typeface="Aptos"/>
              </a:defRPr>
            </a:pPr>
            <a:r>
              <a:rPr dirty="0"/>
              <a:t>•  Regex (re) — matching whole words and phrases</a:t>
            </a:r>
          </a:p>
          <a:p>
            <a:pPr>
              <a:spcAft>
                <a:spcPts val="1200"/>
              </a:spcAft>
              <a:defRPr sz="2000" b="0">
                <a:solidFill>
                  <a:srgbClr val="414D5E"/>
                </a:solidFill>
                <a:latin typeface="Aptos"/>
              </a:defRPr>
            </a:pPr>
            <a:r>
              <a:rPr dirty="0"/>
              <a:t>•  File Handling — saving results to history.txt</a:t>
            </a:r>
          </a:p>
          <a:p>
            <a:pPr>
              <a:spcAft>
                <a:spcPts val="1200"/>
              </a:spcAft>
              <a:defRPr sz="2000" b="0">
                <a:solidFill>
                  <a:srgbClr val="414D5E"/>
                </a:solidFill>
                <a:latin typeface="Aptos"/>
              </a:defRPr>
            </a:pPr>
            <a:r>
              <a:rPr dirty="0"/>
              <a:t>•  Python IDLE — running and testing the program</a:t>
            </a:r>
          </a:p>
        </p:txBody>
      </p:sp>
      <p:pic>
        <p:nvPicPr>
          <p:cNvPr id="7" name="Picture 6" descr="images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854" y="68580"/>
            <a:ext cx="1046967" cy="950976"/>
          </a:xfrm>
          <a:prstGeom prst="rect">
            <a:avLst/>
          </a:prstGeom>
        </p:spPr>
      </p:pic>
      <p:pic>
        <p:nvPicPr>
          <p:cNvPr id="8" name="Picture 7" descr="downlo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164592"/>
            <a:ext cx="958946" cy="75895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94360" y="1115568"/>
            <a:ext cx="10991088" cy="22860"/>
          </a:xfrm>
          <a:prstGeom prst="rect">
            <a:avLst/>
          </a:prstGeom>
          <a:solidFill>
            <a:srgbClr val="1F4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62940" y="1540764"/>
            <a:ext cx="10789920" cy="56692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0D366F"/>
                </a:solidFill>
                <a:latin typeface="Aptos"/>
              </a:defRPr>
            </a:pPr>
            <a: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199132"/>
            <a:ext cx="10744200" cy="32004"/>
          </a:xfrm>
          <a:prstGeom prst="rect">
            <a:avLst/>
          </a:prstGeom>
          <a:solidFill>
            <a:srgbClr val="DEE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372600" y="6510528"/>
            <a:ext cx="210312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 algn="r">
              <a:spcAft>
                <a:spcPts val="1200"/>
              </a:spcAft>
              <a:defRPr sz="1000" b="0">
                <a:solidFill>
                  <a:srgbClr val="1E68B1"/>
                </a:solidFill>
                <a:latin typeface="Aptos"/>
              </a:defRPr>
            </a:pPr>
            <a:r>
              <a:t>PYTHON MINI PROJECT  |  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83549" y="2545402"/>
            <a:ext cx="5486400" cy="393192"/>
          </a:xfrm>
          <a:prstGeom prst="roundRect">
            <a:avLst/>
          </a:prstGeom>
          <a:solidFill>
            <a:srgbClr val="E6EFF9"/>
          </a:solidFill>
          <a:ln>
            <a:solidFill>
              <a:srgbClr val="1E68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366429" y="2577406"/>
            <a:ext cx="512064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 algn="ctr">
              <a:spcAft>
                <a:spcPts val="1200"/>
              </a:spcAft>
              <a:defRPr sz="1600" b="1">
                <a:solidFill>
                  <a:srgbClr val="0D366F"/>
                </a:solidFill>
                <a:latin typeface="Aptos"/>
              </a:defRPr>
            </a:pPr>
            <a:r>
              <a:t>USER INPUT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83549" y="3030034"/>
            <a:ext cx="5486400" cy="393192"/>
          </a:xfrm>
          <a:prstGeom prst="roundRect">
            <a:avLst/>
          </a:prstGeom>
          <a:solidFill>
            <a:srgbClr val="E6EFF9"/>
          </a:solidFill>
          <a:ln>
            <a:solidFill>
              <a:srgbClr val="1E68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66429" y="3062038"/>
            <a:ext cx="512064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 algn="ctr">
              <a:spcAft>
                <a:spcPts val="1200"/>
              </a:spcAft>
              <a:defRPr sz="1600" b="1">
                <a:solidFill>
                  <a:srgbClr val="0D366F"/>
                </a:solidFill>
                <a:latin typeface="Aptos"/>
              </a:defRPr>
            </a:pPr>
            <a:r>
              <a:t>LOWERCASE CONVERSION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83549" y="3514666"/>
            <a:ext cx="5486400" cy="393192"/>
          </a:xfrm>
          <a:prstGeom prst="roundRect">
            <a:avLst/>
          </a:prstGeom>
          <a:solidFill>
            <a:srgbClr val="E6EFF9"/>
          </a:solidFill>
          <a:ln>
            <a:solidFill>
              <a:srgbClr val="1E68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66429" y="3546670"/>
            <a:ext cx="512064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 algn="ctr">
              <a:spcAft>
                <a:spcPts val="1200"/>
              </a:spcAft>
              <a:defRPr sz="1600" b="1">
                <a:solidFill>
                  <a:srgbClr val="0D366F"/>
                </a:solidFill>
                <a:latin typeface="Aptos"/>
              </a:defRPr>
            </a:pPr>
            <a:r>
              <a:t>REGEX KEYWORD MATCHING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83549" y="3999298"/>
            <a:ext cx="5486400" cy="393192"/>
          </a:xfrm>
          <a:prstGeom prst="roundRect">
            <a:avLst/>
          </a:prstGeom>
          <a:solidFill>
            <a:srgbClr val="E6EFF9"/>
          </a:solidFill>
          <a:ln>
            <a:solidFill>
              <a:srgbClr val="1E68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66429" y="4031302"/>
            <a:ext cx="512064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 algn="ctr">
              <a:spcAft>
                <a:spcPts val="1200"/>
              </a:spcAft>
              <a:defRPr sz="1600" b="1">
                <a:solidFill>
                  <a:srgbClr val="0D366F"/>
                </a:solidFill>
                <a:latin typeface="Aptos"/>
              </a:defRPr>
            </a:pPr>
            <a:r>
              <a:t>CALCULATE SPAM SCORE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83549" y="4483930"/>
            <a:ext cx="5486400" cy="393192"/>
          </a:xfrm>
          <a:prstGeom prst="roundRect">
            <a:avLst/>
          </a:prstGeom>
          <a:solidFill>
            <a:srgbClr val="E6EFF9"/>
          </a:solidFill>
          <a:ln>
            <a:solidFill>
              <a:srgbClr val="1E68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66429" y="4515934"/>
            <a:ext cx="512064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 algn="ctr">
              <a:spcAft>
                <a:spcPts val="1200"/>
              </a:spcAft>
              <a:defRPr sz="1600" b="1">
                <a:solidFill>
                  <a:srgbClr val="0D366F"/>
                </a:solidFill>
                <a:latin typeface="Aptos"/>
              </a:defRPr>
            </a:pPr>
            <a:r>
              <a:t>SPAM / NOT SPAM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83549" y="4968562"/>
            <a:ext cx="5486400" cy="393192"/>
          </a:xfrm>
          <a:prstGeom prst="roundRect">
            <a:avLst/>
          </a:prstGeom>
          <a:solidFill>
            <a:srgbClr val="E6EFF9"/>
          </a:solidFill>
          <a:ln>
            <a:solidFill>
              <a:srgbClr val="1E68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366429" y="5000566"/>
            <a:ext cx="5120640" cy="3200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 algn="ctr">
              <a:spcAft>
                <a:spcPts val="1200"/>
              </a:spcAft>
              <a:defRPr sz="1600" b="1">
                <a:solidFill>
                  <a:srgbClr val="0D366F"/>
                </a:solidFill>
                <a:latin typeface="Aptos"/>
              </a:defRPr>
            </a:pPr>
            <a:r>
              <a:t>SAVE TO history.txt</a:t>
            </a:r>
          </a:p>
        </p:txBody>
      </p:sp>
      <p:pic>
        <p:nvPicPr>
          <p:cNvPr id="18" name="Picture 17" descr="images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854" y="68580"/>
            <a:ext cx="1046967" cy="950976"/>
          </a:xfrm>
          <a:prstGeom prst="rect">
            <a:avLst/>
          </a:prstGeom>
        </p:spPr>
      </p:pic>
      <p:pic>
        <p:nvPicPr>
          <p:cNvPr id="19" name="Picture 18" descr="downlo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164592"/>
            <a:ext cx="958946" cy="758952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594360" y="1115568"/>
            <a:ext cx="10991088" cy="22860"/>
          </a:xfrm>
          <a:prstGeom prst="rect">
            <a:avLst/>
          </a:prstGeom>
          <a:solidFill>
            <a:srgbClr val="1F4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1625707"/>
            <a:ext cx="10789920" cy="56692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0D366F"/>
                </a:solidFill>
                <a:latin typeface="Aptos"/>
              </a:defRPr>
            </a:pPr>
            <a:r>
              <a:rPr dirty="0"/>
              <a:t>How the Detector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196846"/>
            <a:ext cx="10744200" cy="32004"/>
          </a:xfrm>
          <a:prstGeom prst="rect">
            <a:avLst/>
          </a:prstGeom>
          <a:solidFill>
            <a:srgbClr val="DEE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372600" y="6510528"/>
            <a:ext cx="210312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 algn="r">
              <a:spcAft>
                <a:spcPts val="1200"/>
              </a:spcAft>
              <a:defRPr sz="1000" b="0">
                <a:solidFill>
                  <a:srgbClr val="1E68B1"/>
                </a:solidFill>
                <a:latin typeface="Aptos"/>
              </a:defRPr>
            </a:pPr>
            <a:r>
              <a:t>PYTHON MINI PROJECT  | 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586789"/>
            <a:ext cx="10424160" cy="32918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414D5E"/>
                </a:solidFill>
                <a:latin typeface="Aptos"/>
              </a:defRPr>
            </a:pPr>
            <a:r>
              <a:rPr dirty="0"/>
              <a:t>•  Accept a message from the user.</a:t>
            </a:r>
          </a:p>
          <a:p>
            <a:pPr>
              <a:spcAft>
                <a:spcPts val="1200"/>
              </a:spcAft>
              <a:defRPr sz="1900" b="0">
                <a:solidFill>
                  <a:srgbClr val="414D5E"/>
                </a:solidFill>
                <a:latin typeface="Aptos"/>
              </a:defRPr>
            </a:pPr>
            <a:r>
              <a:rPr dirty="0"/>
              <a:t>•  Convert it into lowercase for consistent matching.</a:t>
            </a:r>
          </a:p>
          <a:p>
            <a:pPr>
              <a:spcAft>
                <a:spcPts val="1200"/>
              </a:spcAft>
              <a:defRPr sz="1900" b="0">
                <a:solidFill>
                  <a:srgbClr val="414D5E"/>
                </a:solidFill>
                <a:latin typeface="Aptos"/>
              </a:defRPr>
            </a:pPr>
            <a:r>
              <a:rPr dirty="0"/>
              <a:t>•  Check predefined spam keywords using Regex.</a:t>
            </a:r>
          </a:p>
          <a:p>
            <a:pPr>
              <a:spcAft>
                <a:spcPts val="1200"/>
              </a:spcAft>
              <a:defRPr sz="1900" b="0">
                <a:solidFill>
                  <a:srgbClr val="414D5E"/>
                </a:solidFill>
                <a:latin typeface="Aptos"/>
              </a:defRPr>
            </a:pPr>
            <a:r>
              <a:rPr dirty="0"/>
              <a:t>•  Add 1 point for each matching keyword.</a:t>
            </a:r>
          </a:p>
          <a:p>
            <a:pPr>
              <a:spcAft>
                <a:spcPts val="1200"/>
              </a:spcAft>
              <a:defRPr sz="1900" b="0">
                <a:solidFill>
                  <a:srgbClr val="414D5E"/>
                </a:solidFill>
                <a:latin typeface="Aptos"/>
              </a:defRPr>
            </a:pPr>
            <a:r>
              <a:rPr dirty="0"/>
              <a:t>•  Score ≥ 2: SPAM; otherwise: NOT SPAM.</a:t>
            </a:r>
          </a:p>
          <a:p>
            <a:pPr>
              <a:spcAft>
                <a:spcPts val="1200"/>
              </a:spcAft>
              <a:defRPr sz="1900" b="0">
                <a:solidFill>
                  <a:srgbClr val="414D5E"/>
                </a:solidFill>
                <a:latin typeface="Aptos"/>
              </a:defRPr>
            </a:pPr>
            <a:r>
              <a:rPr dirty="0"/>
              <a:t>•  Append the message and result to history.txt.</a:t>
            </a:r>
          </a:p>
        </p:txBody>
      </p:sp>
      <p:pic>
        <p:nvPicPr>
          <p:cNvPr id="7" name="Picture 6" descr="images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233" y="19912"/>
            <a:ext cx="1154128" cy="1048312"/>
          </a:xfrm>
          <a:prstGeom prst="rect">
            <a:avLst/>
          </a:prstGeom>
        </p:spPr>
      </p:pic>
      <p:pic>
        <p:nvPicPr>
          <p:cNvPr id="8" name="Picture 7" descr="downlo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164592"/>
            <a:ext cx="958946" cy="75895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94360" y="1115568"/>
            <a:ext cx="10991088" cy="22860"/>
          </a:xfrm>
          <a:prstGeom prst="rect">
            <a:avLst/>
          </a:prstGeom>
          <a:solidFill>
            <a:srgbClr val="1F4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13232" y="1499616"/>
            <a:ext cx="10789920" cy="56692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0D366F"/>
                </a:solidFill>
                <a:latin typeface="Aptos"/>
              </a:defRPr>
            </a:pPr>
            <a:r>
              <a:rPr dirty="0"/>
              <a:t>Important Code: Detection Logic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2183130"/>
            <a:ext cx="10744200" cy="32004"/>
          </a:xfrm>
          <a:prstGeom prst="rect">
            <a:avLst/>
          </a:prstGeom>
          <a:solidFill>
            <a:srgbClr val="DEE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372600" y="6510528"/>
            <a:ext cx="210312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 algn="r">
              <a:spcAft>
                <a:spcPts val="1200"/>
              </a:spcAft>
              <a:defRPr sz="1000" b="0">
                <a:solidFill>
                  <a:srgbClr val="1E68B1"/>
                </a:solidFill>
                <a:latin typeface="Aptos"/>
              </a:defRPr>
            </a:pPr>
            <a:r>
              <a:t>PYTHON MINI PROJECT  | 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8435" y="2504732"/>
            <a:ext cx="10058400" cy="33375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0D366F"/>
                </a:solidFill>
                <a:latin typeface="Consolas"/>
              </a:defRPr>
            </a:pPr>
            <a:r>
              <a:rPr dirty="0"/>
              <a:t>def </a:t>
            </a:r>
            <a:r>
              <a:rPr dirty="0" err="1"/>
              <a:t>check_spam</a:t>
            </a:r>
            <a:r>
              <a:rPr dirty="0"/>
              <a:t>(message):</a:t>
            </a:r>
          </a:p>
          <a:p>
            <a:pPr>
              <a:spcAft>
                <a:spcPts val="1200"/>
              </a:spcAft>
              <a:defRPr sz="2000" b="0">
                <a:solidFill>
                  <a:srgbClr val="0D366F"/>
                </a:solidFill>
                <a:latin typeface="Consolas"/>
              </a:defRPr>
            </a:pPr>
            <a:r>
              <a:rPr dirty="0"/>
              <a:t>    message = </a:t>
            </a:r>
            <a:r>
              <a:rPr dirty="0" err="1"/>
              <a:t>message.lower</a:t>
            </a:r>
            <a:r>
              <a:rPr dirty="0"/>
              <a:t>()</a:t>
            </a:r>
          </a:p>
          <a:p>
            <a:pPr>
              <a:spcAft>
                <a:spcPts val="1200"/>
              </a:spcAft>
              <a:defRPr sz="2000" b="0">
                <a:solidFill>
                  <a:srgbClr val="0D366F"/>
                </a:solidFill>
                <a:latin typeface="Consolas"/>
              </a:defRPr>
            </a:pPr>
            <a:r>
              <a:rPr dirty="0"/>
              <a:t>    score = 0</a:t>
            </a:r>
          </a:p>
          <a:p>
            <a:pPr>
              <a:spcAft>
                <a:spcPts val="1200"/>
              </a:spcAft>
              <a:defRPr sz="2000" b="0">
                <a:solidFill>
                  <a:srgbClr val="0D366F"/>
                </a:solidFill>
                <a:latin typeface="Consolas"/>
              </a:defRPr>
            </a:pPr>
            <a:r>
              <a:rPr dirty="0"/>
              <a:t>    for word in </a:t>
            </a:r>
            <a:r>
              <a:rPr dirty="0" err="1"/>
              <a:t>spam_words</a:t>
            </a:r>
            <a:r>
              <a:rPr dirty="0"/>
              <a:t>:</a:t>
            </a:r>
          </a:p>
          <a:p>
            <a:pPr>
              <a:spcAft>
                <a:spcPts val="1200"/>
              </a:spcAft>
              <a:defRPr sz="2000" b="0">
                <a:solidFill>
                  <a:srgbClr val="0D366F"/>
                </a:solidFill>
                <a:latin typeface="Consolas"/>
              </a:defRPr>
            </a:pPr>
            <a:r>
              <a:rPr dirty="0"/>
              <a:t>        pattern = r"\b" + </a:t>
            </a:r>
            <a:r>
              <a:rPr dirty="0" err="1"/>
              <a:t>re.escape</a:t>
            </a:r>
            <a:r>
              <a:rPr dirty="0"/>
              <a:t>(word) + r"\b"</a:t>
            </a:r>
          </a:p>
          <a:p>
            <a:pPr>
              <a:spcAft>
                <a:spcPts val="1200"/>
              </a:spcAft>
              <a:defRPr sz="2000" b="0">
                <a:solidFill>
                  <a:srgbClr val="0D366F"/>
                </a:solidFill>
                <a:latin typeface="Consolas"/>
              </a:defRPr>
            </a:pPr>
            <a:r>
              <a:rPr dirty="0"/>
              <a:t>        if </a:t>
            </a:r>
            <a:r>
              <a:rPr dirty="0" err="1"/>
              <a:t>re.search</a:t>
            </a:r>
            <a:r>
              <a:rPr dirty="0"/>
              <a:t>(pattern, message):</a:t>
            </a:r>
          </a:p>
          <a:p>
            <a:pPr>
              <a:spcAft>
                <a:spcPts val="1200"/>
              </a:spcAft>
              <a:defRPr sz="2000" b="0">
                <a:solidFill>
                  <a:srgbClr val="0D366F"/>
                </a:solidFill>
                <a:latin typeface="Consolas"/>
              </a:defRPr>
            </a:pPr>
            <a:r>
              <a:rPr dirty="0"/>
              <a:t>            score += 1</a:t>
            </a:r>
          </a:p>
          <a:p>
            <a:pPr>
              <a:spcAft>
                <a:spcPts val="1200"/>
              </a:spcAft>
              <a:defRPr sz="2000" b="0">
                <a:solidFill>
                  <a:srgbClr val="0D366F"/>
                </a:solidFill>
                <a:latin typeface="Consolas"/>
              </a:defRPr>
            </a:pPr>
            <a:r>
              <a:rPr dirty="0"/>
              <a:t>    return "SPAM" if score &gt;= 2 else "NOT SPAM"</a:t>
            </a:r>
          </a:p>
        </p:txBody>
      </p:sp>
      <p:pic>
        <p:nvPicPr>
          <p:cNvPr id="7" name="Picture 6" descr="images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59" y="21355"/>
            <a:ext cx="1150951" cy="1045426"/>
          </a:xfrm>
          <a:prstGeom prst="rect">
            <a:avLst/>
          </a:prstGeom>
        </p:spPr>
      </p:pic>
      <p:pic>
        <p:nvPicPr>
          <p:cNvPr id="8" name="Picture 7" descr="downlo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164592"/>
            <a:ext cx="958946" cy="75895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94360" y="1115568"/>
            <a:ext cx="10991088" cy="22860"/>
          </a:xfrm>
          <a:prstGeom prst="rect">
            <a:avLst/>
          </a:prstGeom>
          <a:solidFill>
            <a:srgbClr val="1F4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08660" y="1549908"/>
            <a:ext cx="10789920" cy="56692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0D366F"/>
                </a:solidFill>
                <a:latin typeface="Aptos"/>
              </a:defRPr>
            </a:pPr>
            <a:r>
              <a:rPr dirty="0"/>
              <a:t>File Handling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08660" y="2122491"/>
            <a:ext cx="10744200" cy="32004"/>
          </a:xfrm>
          <a:prstGeom prst="rect">
            <a:avLst/>
          </a:prstGeom>
          <a:solidFill>
            <a:srgbClr val="DEE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372600" y="6510528"/>
            <a:ext cx="210312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 algn="r">
              <a:spcAft>
                <a:spcPts val="1200"/>
              </a:spcAft>
              <a:defRPr sz="1000" b="0">
                <a:solidFill>
                  <a:srgbClr val="1E68B1"/>
                </a:solidFill>
                <a:latin typeface="Aptos"/>
              </a:defRPr>
            </a:pPr>
            <a:r>
              <a:t>PYTHON MINI PROJECT  | 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630644"/>
            <a:ext cx="10332720" cy="13716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0D366F"/>
                </a:solidFill>
                <a:latin typeface="Consolas"/>
              </a:defRPr>
            </a:pPr>
            <a:r>
              <a:rPr dirty="0"/>
              <a:t>with open("history.txt", "a", encoding="utf-8") as file:</a:t>
            </a:r>
          </a:p>
          <a:p>
            <a:pPr>
              <a:spcAft>
                <a:spcPts val="1200"/>
              </a:spcAft>
              <a:defRPr sz="2000" b="0">
                <a:solidFill>
                  <a:srgbClr val="0D366F"/>
                </a:solidFill>
                <a:latin typeface="Consolas"/>
              </a:defRPr>
            </a:pPr>
            <a:r>
              <a:rPr dirty="0"/>
              <a:t>    </a:t>
            </a:r>
            <a:r>
              <a:rPr dirty="0" err="1"/>
              <a:t>file.write</a:t>
            </a:r>
            <a:r>
              <a:rPr dirty="0"/>
              <a:t>(msg + " -&gt; " + result + "\n")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8810" y="4011869"/>
            <a:ext cx="10058400" cy="11430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414D5E"/>
                </a:solidFill>
                <a:latin typeface="Aptos"/>
              </a:defRPr>
            </a:pPr>
            <a:r>
              <a:rPr dirty="0"/>
              <a:t>•  Append mode (a) preserves previous records.</a:t>
            </a:r>
          </a:p>
          <a:p>
            <a:pPr>
              <a:spcAft>
                <a:spcPts val="1200"/>
              </a:spcAft>
              <a:defRPr sz="2000" b="0">
                <a:solidFill>
                  <a:srgbClr val="414D5E"/>
                </a:solidFill>
                <a:latin typeface="Aptos"/>
              </a:defRPr>
            </a:pPr>
            <a:r>
              <a:rPr dirty="0"/>
              <a:t>•  Users can view earlier detection results through the menu.</a:t>
            </a:r>
          </a:p>
        </p:txBody>
      </p:sp>
      <p:pic>
        <p:nvPicPr>
          <p:cNvPr id="8" name="Picture 7" descr="images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343" y="0"/>
            <a:ext cx="1208933" cy="1098092"/>
          </a:xfrm>
          <a:prstGeom prst="rect">
            <a:avLst/>
          </a:prstGeom>
        </p:spPr>
      </p:pic>
      <p:pic>
        <p:nvPicPr>
          <p:cNvPr id="9" name="Picture 8" descr="downlo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164592"/>
            <a:ext cx="958946" cy="75895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94360" y="1115568"/>
            <a:ext cx="10991088" cy="22860"/>
          </a:xfrm>
          <a:prstGeom prst="rect">
            <a:avLst/>
          </a:prstGeom>
          <a:solidFill>
            <a:srgbClr val="1F4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95528" y="1444752"/>
            <a:ext cx="10789920" cy="56692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0D366F"/>
                </a:solidFill>
                <a:latin typeface="Aptos"/>
              </a:defRPr>
            </a:pPr>
            <a:r>
              <a:rPr dirty="0"/>
              <a:t>Sample Input &amp; Output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59067"/>
            <a:ext cx="10744200" cy="32004"/>
          </a:xfrm>
          <a:prstGeom prst="rect">
            <a:avLst/>
          </a:prstGeom>
          <a:solidFill>
            <a:srgbClr val="DEE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372600" y="6510528"/>
            <a:ext cx="210312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 algn="r">
              <a:spcAft>
                <a:spcPts val="1200"/>
              </a:spcAft>
              <a:defRPr sz="1000" b="0">
                <a:solidFill>
                  <a:srgbClr val="1E68B1"/>
                </a:solidFill>
                <a:latin typeface="Aptos"/>
              </a:defRPr>
            </a:pPr>
            <a:r>
              <a:t>PYTHON MINI PROJECT  | 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15666"/>
            <a:ext cx="822960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414D5E"/>
                </a:solidFill>
                <a:latin typeface="Aptos"/>
              </a:defRPr>
            </a:pPr>
            <a:r>
              <a:rPr dirty="0"/>
              <a:t>INPUT: Congratulations! Win a free prize.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2615666"/>
            <a:ext cx="182880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B52A2A"/>
                </a:solidFill>
                <a:latin typeface="Aptos"/>
              </a:defRPr>
            </a:pPr>
            <a:r>
              <a:t>SPAM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16204"/>
            <a:ext cx="822960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414D5E"/>
                </a:solidFill>
                <a:latin typeface="Aptos"/>
              </a:defRPr>
            </a:pPr>
            <a:r>
              <a:t>INPUT: Hello, how are you?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3340267"/>
            <a:ext cx="182880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E874B"/>
                </a:solidFill>
                <a:latin typeface="Aptos"/>
              </a:defRPr>
            </a:pPr>
            <a:r>
              <a:rPr dirty="0"/>
              <a:t>NOT SPAM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3650" y="4006699"/>
            <a:ext cx="822960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414D5E"/>
                </a:solidFill>
                <a:latin typeface="Aptos"/>
              </a:defRPr>
            </a:pPr>
            <a:r>
              <a:rPr dirty="0"/>
              <a:t>INPUT: Click here to claim now.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4040805"/>
            <a:ext cx="1828800" cy="381643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B52A2A"/>
                </a:solidFill>
                <a:latin typeface="Aptos"/>
              </a:defRPr>
            </a:pPr>
            <a:r>
              <a:rPr lang="en-US" dirty="0"/>
              <a:t> </a:t>
            </a:r>
            <a:r>
              <a:rPr dirty="0"/>
              <a:t>SPAM</a:t>
            </a:r>
          </a:p>
        </p:txBody>
      </p:sp>
      <p:pic>
        <p:nvPicPr>
          <p:cNvPr id="12" name="Picture 11" descr="images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747" y="49497"/>
            <a:ext cx="1083805" cy="984437"/>
          </a:xfrm>
          <a:prstGeom prst="rect">
            <a:avLst/>
          </a:prstGeom>
        </p:spPr>
      </p:pic>
      <p:pic>
        <p:nvPicPr>
          <p:cNvPr id="13" name="Picture 12" descr="downlo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164592"/>
            <a:ext cx="958946" cy="758952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594360" y="1115568"/>
            <a:ext cx="10991088" cy="22860"/>
          </a:xfrm>
          <a:prstGeom prst="rect">
            <a:avLst/>
          </a:prstGeom>
          <a:solidFill>
            <a:srgbClr val="1F4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1509542"/>
            <a:ext cx="10789920" cy="56692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0D366F"/>
                </a:solidFill>
                <a:latin typeface="Aptos"/>
              </a:defRPr>
            </a:pPr>
            <a:r>
              <a:rPr dirty="0"/>
              <a:t>Advantages &amp; 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71500" y="2218984"/>
            <a:ext cx="10744200" cy="32004"/>
          </a:xfrm>
          <a:prstGeom prst="rect">
            <a:avLst/>
          </a:prstGeom>
          <a:solidFill>
            <a:srgbClr val="DEE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372600" y="6510528"/>
            <a:ext cx="210312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 algn="r">
              <a:spcAft>
                <a:spcPts val="1200"/>
              </a:spcAft>
              <a:defRPr sz="1000" b="0">
                <a:solidFill>
                  <a:srgbClr val="1E68B1"/>
                </a:solidFill>
                <a:latin typeface="Aptos"/>
              </a:defRPr>
            </a:pPr>
            <a:r>
              <a:t>PYTHON MINI PROJECT  | 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87751"/>
            <a:ext cx="457200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1E68B1"/>
                </a:solidFill>
                <a:latin typeface="Aptos"/>
              </a:defRPr>
            </a:pPr>
            <a:r>
              <a:rPr dirty="0"/>
              <a:t>ADVANTAGES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05005"/>
            <a:ext cx="5029200" cy="23774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414D5E"/>
                </a:solidFill>
                <a:latin typeface="Aptos"/>
              </a:defRPr>
            </a:pPr>
            <a:r>
              <a:rPr dirty="0"/>
              <a:t>• Easy to use</a:t>
            </a:r>
          </a:p>
          <a:p>
            <a:pPr>
              <a:spcAft>
                <a:spcPts val="1200"/>
              </a:spcAft>
              <a:defRPr sz="2000" b="0">
                <a:solidFill>
                  <a:srgbClr val="414D5E"/>
                </a:solidFill>
                <a:latin typeface="Aptos"/>
              </a:defRPr>
            </a:pPr>
            <a:r>
              <a:rPr dirty="0"/>
              <a:t>• Fast rule-based checks</a:t>
            </a:r>
          </a:p>
          <a:p>
            <a:pPr>
              <a:spcAft>
                <a:spcPts val="1200"/>
              </a:spcAft>
              <a:defRPr sz="2000" b="0">
                <a:solidFill>
                  <a:srgbClr val="414D5E"/>
                </a:solidFill>
                <a:latin typeface="Aptos"/>
              </a:defRPr>
            </a:pPr>
            <a:r>
              <a:rPr dirty="0"/>
              <a:t>• No external libraries</a:t>
            </a:r>
          </a:p>
          <a:p>
            <a:pPr>
              <a:spcAft>
                <a:spcPts val="1200"/>
              </a:spcAft>
              <a:defRPr sz="2000" b="0">
                <a:solidFill>
                  <a:srgbClr val="414D5E"/>
                </a:solidFill>
                <a:latin typeface="Aptos"/>
              </a:defRPr>
            </a:pPr>
            <a:r>
              <a:rPr dirty="0"/>
              <a:t>• Saves detection history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587751"/>
            <a:ext cx="457200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1E68B1"/>
                </a:solidFill>
                <a:latin typeface="Aptos"/>
              </a:defRPr>
            </a:pPr>
            <a:r>
              <a:t>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971018"/>
            <a:ext cx="5029200" cy="23774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1200"/>
              </a:spcAft>
              <a:defRPr sz="2000" b="0">
                <a:solidFill>
                  <a:srgbClr val="414D5E"/>
                </a:solidFill>
                <a:latin typeface="Aptos"/>
              </a:defRPr>
            </a:pPr>
            <a:r>
              <a:rPr dirty="0"/>
              <a:t>• Limited keyword list</a:t>
            </a:r>
          </a:p>
          <a:p>
            <a:pPr>
              <a:spcAft>
                <a:spcPts val="1200"/>
              </a:spcAft>
              <a:defRPr sz="2000" b="0">
                <a:solidFill>
                  <a:srgbClr val="414D5E"/>
                </a:solidFill>
                <a:latin typeface="Aptos"/>
              </a:defRPr>
            </a:pPr>
            <a:r>
              <a:rPr dirty="0"/>
              <a:t>• Does not understand context</a:t>
            </a:r>
          </a:p>
          <a:p>
            <a:pPr>
              <a:spcAft>
                <a:spcPts val="1200"/>
              </a:spcAft>
              <a:defRPr sz="2000" b="0">
                <a:solidFill>
                  <a:srgbClr val="414D5E"/>
                </a:solidFill>
                <a:latin typeface="Aptos"/>
              </a:defRPr>
            </a:pPr>
            <a:r>
              <a:rPr dirty="0"/>
              <a:t>• Possible false classifications</a:t>
            </a:r>
          </a:p>
          <a:p>
            <a:pPr>
              <a:spcAft>
                <a:spcPts val="1200"/>
              </a:spcAft>
              <a:defRPr sz="2000" b="0">
                <a:solidFill>
                  <a:srgbClr val="414D5E"/>
                </a:solidFill>
                <a:latin typeface="Aptos"/>
              </a:defRPr>
            </a:pPr>
            <a:r>
              <a:rPr dirty="0"/>
              <a:t>• No machine learning</a:t>
            </a:r>
          </a:p>
        </p:txBody>
      </p:sp>
      <p:pic>
        <p:nvPicPr>
          <p:cNvPr id="10" name="Picture 9" descr="images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935" y="69343"/>
            <a:ext cx="1054929" cy="958208"/>
          </a:xfrm>
          <a:prstGeom prst="rect">
            <a:avLst/>
          </a:prstGeom>
        </p:spPr>
      </p:pic>
      <p:pic>
        <p:nvPicPr>
          <p:cNvPr id="11" name="Picture 10" descr="downlo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164592"/>
            <a:ext cx="958946" cy="7589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115568"/>
            <a:ext cx="10991088" cy="22860"/>
          </a:xfrm>
          <a:prstGeom prst="rect">
            <a:avLst/>
          </a:prstGeom>
          <a:solidFill>
            <a:srgbClr val="1F4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85800" y="1462198"/>
            <a:ext cx="10789920" cy="56692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0D366F"/>
                </a:solidFill>
                <a:latin typeface="Aptos"/>
              </a:defRPr>
            </a:pPr>
            <a:r>
              <a:rPr dirty="0"/>
              <a:t>Conclusion &amp; 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708660" y="2151126"/>
            <a:ext cx="10744200" cy="32004"/>
          </a:xfrm>
          <a:prstGeom prst="rect">
            <a:avLst/>
          </a:prstGeom>
          <a:solidFill>
            <a:srgbClr val="DEE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372600" y="6510528"/>
            <a:ext cx="210312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 algn="r">
              <a:spcAft>
                <a:spcPts val="1200"/>
              </a:spcAft>
              <a:defRPr sz="1000" b="0">
                <a:solidFill>
                  <a:srgbClr val="1E68B1"/>
                </a:solidFill>
                <a:latin typeface="Aptos"/>
              </a:defRPr>
            </a:pPr>
            <a:r>
              <a:t>PYTHON MINI PROJECT  | 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8660" y="2359152"/>
            <a:ext cx="10332720" cy="91440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1200"/>
              </a:spcAft>
              <a:defRPr sz="2100" b="0">
                <a:solidFill>
                  <a:srgbClr val="414D5E"/>
                </a:solidFill>
                <a:latin typeface="Aptos"/>
              </a:defRPr>
            </a:pPr>
            <a:r>
              <a:rPr dirty="0"/>
              <a:t>Python strings, Regex and file handling work together to flag potentially unwanted messages.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660" y="3401568"/>
            <a:ext cx="10058400" cy="36576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1E68B1"/>
                </a:solidFill>
                <a:latin typeface="Aptos"/>
              </a:defRPr>
            </a:pPr>
            <a:r>
              <a:rPr dirty="0"/>
              <a:t>FUTURE IMPROVEMENTS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8660" y="3867912"/>
            <a:ext cx="10058400" cy="123444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>
              <a:spcAft>
                <a:spcPts val="1200"/>
              </a:spcAft>
              <a:defRPr sz="1900" b="0">
                <a:solidFill>
                  <a:srgbClr val="414D5E"/>
                </a:solidFill>
                <a:latin typeface="Aptos"/>
              </a:defRPr>
            </a:pPr>
            <a:r>
              <a:rPr dirty="0"/>
              <a:t>• Add machine learning and a larger keyword database.</a:t>
            </a:r>
          </a:p>
          <a:p>
            <a:pPr>
              <a:spcAft>
                <a:spcPts val="1200"/>
              </a:spcAft>
              <a:defRPr sz="1900" b="0">
                <a:solidFill>
                  <a:srgbClr val="414D5E"/>
                </a:solidFill>
                <a:latin typeface="Aptos"/>
              </a:defRPr>
            </a:pPr>
            <a:r>
              <a:rPr dirty="0"/>
              <a:t>• Create a graphical user interface.</a:t>
            </a:r>
          </a:p>
          <a:p>
            <a:pPr>
              <a:spcAft>
                <a:spcPts val="1200"/>
              </a:spcAft>
              <a:defRPr sz="1900" b="0">
                <a:solidFill>
                  <a:srgbClr val="414D5E"/>
                </a:solidFill>
                <a:latin typeface="Aptos"/>
              </a:defRPr>
            </a:pPr>
            <a:r>
              <a:rPr dirty="0"/>
              <a:t>• Extend support to email and SMS messages.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257800"/>
            <a:ext cx="10058400" cy="411480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 algn="ctr">
              <a:spcAft>
                <a:spcPts val="1200"/>
              </a:spcAft>
              <a:defRPr sz="2200" b="1">
                <a:solidFill>
                  <a:srgbClr val="0D366F"/>
                </a:solidFill>
                <a:latin typeface="Aptos"/>
              </a:defRPr>
            </a:pPr>
            <a:r>
              <a:rPr dirty="0"/>
              <a:t>THANK YOU  </a:t>
            </a:r>
            <a:r>
              <a:rPr lang="en-IN" dirty="0"/>
              <a:t>  </a:t>
            </a:r>
            <a:endParaRPr dirty="0"/>
          </a:p>
        </p:txBody>
      </p:sp>
      <p:pic>
        <p:nvPicPr>
          <p:cNvPr id="10" name="Picture 9" descr="images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996" y="10897"/>
            <a:ext cx="1160807" cy="1054379"/>
          </a:xfrm>
          <a:prstGeom prst="rect">
            <a:avLst/>
          </a:prstGeom>
        </p:spPr>
      </p:pic>
      <p:pic>
        <p:nvPicPr>
          <p:cNvPr id="11" name="Picture 10" descr="downlo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164592"/>
            <a:ext cx="958946" cy="7589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94360" y="1115568"/>
            <a:ext cx="10991088" cy="22860"/>
          </a:xfrm>
          <a:prstGeom prst="rect">
            <a:avLst/>
          </a:prstGeom>
          <a:solidFill>
            <a:srgbClr val="1F4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5AB4D1-AAE2-C624-14DE-E22D49CD4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E72A30F-B58E-8D1B-F459-9607493F4288}"/>
              </a:ext>
            </a:extLst>
          </p:cNvPr>
          <p:cNvSpPr txBox="1"/>
          <p:nvPr/>
        </p:nvSpPr>
        <p:spPr>
          <a:xfrm>
            <a:off x="9372600" y="6510528"/>
            <a:ext cx="2103120" cy="201168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 algn="r">
              <a:spcAft>
                <a:spcPts val="1200"/>
              </a:spcAft>
              <a:defRPr sz="1000" b="0">
                <a:solidFill>
                  <a:srgbClr val="1E68B1"/>
                </a:solidFill>
                <a:latin typeface="Aptos"/>
              </a:defRPr>
            </a:pPr>
            <a:r>
              <a:t>PYTHON MINI PROJECT  |  12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5B0C13-A9D8-63A7-AD2A-81CB58C81999}"/>
              </a:ext>
            </a:extLst>
          </p:cNvPr>
          <p:cNvSpPr txBox="1"/>
          <p:nvPr/>
        </p:nvSpPr>
        <p:spPr>
          <a:xfrm>
            <a:off x="760396" y="3223260"/>
            <a:ext cx="10058400" cy="904863"/>
          </a:xfrm>
          <a:prstGeom prst="rect">
            <a:avLst/>
          </a:prstGeom>
          <a:noFill/>
        </p:spPr>
        <p:txBody>
          <a:bodyPr wrap="square" lIns="45720" tIns="27432">
            <a:spAutoFit/>
          </a:bodyPr>
          <a:lstStyle/>
          <a:p>
            <a:pPr algn="ctr">
              <a:spcAft>
                <a:spcPts val="1200"/>
              </a:spcAft>
              <a:defRPr sz="2200" b="1">
                <a:solidFill>
                  <a:srgbClr val="0D366F"/>
                </a:solidFill>
                <a:latin typeface="Aptos"/>
              </a:defRPr>
            </a:pPr>
            <a:r>
              <a:rPr sz="5400" dirty="0"/>
              <a:t>THANK YOU  </a:t>
            </a:r>
            <a:r>
              <a:rPr lang="en-IN" sz="5400" dirty="0"/>
              <a:t>  </a:t>
            </a:r>
            <a:endParaRPr sz="5400" dirty="0"/>
          </a:p>
        </p:txBody>
      </p:sp>
      <p:pic>
        <p:nvPicPr>
          <p:cNvPr id="10" name="Picture 9" descr="images(1).png">
            <a:extLst>
              <a:ext uri="{FF2B5EF4-FFF2-40B4-BE49-F238E27FC236}">
                <a16:creationId xmlns:a16="http://schemas.microsoft.com/office/drawing/2014/main" id="{CE59A58E-A1CA-D1DE-BE6D-E8718978D3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996" y="10897"/>
            <a:ext cx="1160807" cy="1054379"/>
          </a:xfrm>
          <a:prstGeom prst="rect">
            <a:avLst/>
          </a:prstGeom>
        </p:spPr>
      </p:pic>
      <p:pic>
        <p:nvPicPr>
          <p:cNvPr id="11" name="Picture 10" descr="download.png">
            <a:extLst>
              <a:ext uri="{FF2B5EF4-FFF2-40B4-BE49-F238E27FC236}">
                <a16:creationId xmlns:a16="http://schemas.microsoft.com/office/drawing/2014/main" id="{31A8DC6C-9852-9FD7-F70F-53E2762DCC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164592"/>
            <a:ext cx="958946" cy="758952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CDC4DF2-A511-169E-0294-86E9A7995E02}"/>
              </a:ext>
            </a:extLst>
          </p:cNvPr>
          <p:cNvSpPr/>
          <p:nvPr/>
        </p:nvSpPr>
        <p:spPr>
          <a:xfrm>
            <a:off x="594360" y="1115568"/>
            <a:ext cx="10991088" cy="22860"/>
          </a:xfrm>
          <a:prstGeom prst="rect">
            <a:avLst/>
          </a:prstGeom>
          <a:solidFill>
            <a:srgbClr val="1F4C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4266223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604</Words>
  <Application>Microsoft Office PowerPoint</Application>
  <PresentationFormat>Widescreen</PresentationFormat>
  <Paragraphs>94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HARSHIT RASANIA</cp:lastModifiedBy>
  <cp:revision>3</cp:revision>
  <dcterms:created xsi:type="dcterms:W3CDTF">2013-01-27T09:14:16Z</dcterms:created>
  <dcterms:modified xsi:type="dcterms:W3CDTF">2026-10-27T05:12:29Z</dcterms:modified>
  <cp:category/>
</cp:coreProperties>
</file>